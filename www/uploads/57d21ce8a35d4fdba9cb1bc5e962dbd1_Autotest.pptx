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1B17FD-8829-4D1C-ABEE-062FB6D8B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A1176F8-D8C7-4BA4-93EF-60578E30E1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59AB45-E890-4FE0-8ED7-30FD51F1D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9A4C-2E97-492E-927B-8EA78A00C7DC}" type="datetimeFigureOut">
              <a:rPr lang="zh-TW" altLang="en-US" smtClean="0"/>
              <a:t>2025/12/1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C61CA9-6A74-4BDB-B241-B5B4B8708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33ABDE-5E63-43A2-B63F-A63EB64BA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529AF-7396-4E6D-8F5A-2C5342E6CB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3250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9F442F-D486-4CE9-8D8F-BBAD9EC10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4F9EA4-28D6-4626-A38E-2C7354AB4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05F76E-50A6-41C3-B36E-BFB7AA4B0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9A4C-2E97-492E-927B-8EA78A00C7DC}" type="datetimeFigureOut">
              <a:rPr lang="zh-TW" altLang="en-US" smtClean="0"/>
              <a:t>2025/12/1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C63133-DADF-475D-ADF2-9184FA75B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C6360B-251E-4574-8F73-AD308303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529AF-7396-4E6D-8F5A-2C5342E6CB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8354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FE067F-65A1-4070-BD76-32ABE241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23086B9-83CF-4161-9DF3-2F06E4F00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C97621-2E99-47AD-92DE-20000869A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9A4C-2E97-492E-927B-8EA78A00C7DC}" type="datetimeFigureOut">
              <a:rPr lang="zh-TW" altLang="en-US" smtClean="0"/>
              <a:t>2025/12/1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67D9DC-5563-4E97-AD69-B22C77E9D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9CB046-5CC2-4304-AB86-F45BB6406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529AF-7396-4E6D-8F5A-2C5342E6CB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559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2297D7-C1B9-40E4-B2D1-41077E81B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87B486-9E85-45E9-A221-791D2B2670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9C85502-4C4A-4AD4-8587-D54FE0ECE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DD50510-5AF9-4B4A-BB6E-64373A20C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9A4C-2E97-492E-927B-8EA78A00C7DC}" type="datetimeFigureOut">
              <a:rPr lang="zh-TW" altLang="en-US" smtClean="0"/>
              <a:t>2025/12/1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0453C48-5329-4929-8C12-C62548C9A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5E13CCA-C1CC-480F-831F-08C7DACE2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529AF-7396-4E6D-8F5A-2C5342E6CB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688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D3BC9C-D71F-4C7E-8491-013DDE005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77D9E48-C81B-46CE-AB2E-1EAA4098B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F3B88FD-B90D-4693-A5AB-C14BA4F61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BF91FA8-067C-4D87-BFBA-713FD043B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F6532FF-D023-4A4D-9840-964C5B785E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1BE39A-158C-45B9-A864-1B367900E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9A4C-2E97-492E-927B-8EA78A00C7DC}" type="datetimeFigureOut">
              <a:rPr lang="zh-TW" altLang="en-US" smtClean="0"/>
              <a:t>2025/12/1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448C088-0277-4FCF-A01C-6044F0A89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3A9C51C-EFBB-41B4-A40D-CAAD93089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529AF-7396-4E6D-8F5A-2C5342E6CB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515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B0552E-DCD5-4221-906B-C7B28B5FA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16C3A02-6D5B-45F9-A955-5426F115E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9A4C-2E97-492E-927B-8EA78A00C7DC}" type="datetimeFigureOut">
              <a:rPr lang="zh-TW" altLang="en-US" smtClean="0"/>
              <a:t>2025/12/1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E968D8A-C1AE-4935-9077-97432D000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F523460-056A-4DBF-A48A-C7A33C9C7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529AF-7396-4E6D-8F5A-2C5342E6CB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5342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7F33478-693B-4002-98F0-849BFE20A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9A4C-2E97-492E-927B-8EA78A00C7DC}" type="datetimeFigureOut">
              <a:rPr lang="zh-TW" altLang="en-US" smtClean="0"/>
              <a:t>2025/12/1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6C069DB-5374-4CBC-850A-771BB32EA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CE8BD98-5D50-412B-A8DF-778A05CA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529AF-7396-4E6D-8F5A-2C5342E6CB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3364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622551-002D-490A-9769-5B3FCC4DA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F04BC0-4D5C-4A8D-ACF1-5E7AD848F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4079EB8-4D1F-4E36-B76E-B4C474931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0380C13-B982-4F3A-89C1-81EA561D8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9A4C-2E97-492E-927B-8EA78A00C7DC}" type="datetimeFigureOut">
              <a:rPr lang="zh-TW" altLang="en-US" smtClean="0"/>
              <a:t>2025/12/1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4958FFF-7596-4F91-A214-E86D3B770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B73C045-1295-4118-B49B-4A8D78A2E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529AF-7396-4E6D-8F5A-2C5342E6CB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9597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7A342C-EA64-4508-B57E-C768F52FC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274B654-7662-4EF9-8C0C-C3409FB62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173E836-CBCE-4D2D-98F8-8882B6154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9FC37D5-7C18-4327-9DCE-0028018F1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9A4C-2E97-492E-927B-8EA78A00C7DC}" type="datetimeFigureOut">
              <a:rPr lang="zh-TW" altLang="en-US" smtClean="0"/>
              <a:t>2025/12/1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AD27672-4513-4B8B-A851-19B70E8D6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EBBF575-29F4-4255-B1AF-87C2408AD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529AF-7396-4E6D-8F5A-2C5342E6CB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135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894CF0-872C-4176-9CC7-C0FC3E531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F2BDED2-BC9C-47A4-B9CD-B52A846AA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3CEF2A-2342-4B91-81A0-093389060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9A4C-2E97-492E-927B-8EA78A00C7DC}" type="datetimeFigureOut">
              <a:rPr lang="zh-TW" altLang="en-US" smtClean="0"/>
              <a:t>2025/12/1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3371DE-296D-4DD0-9747-E9F0C0E4E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609EC8-91E4-4BC6-9946-4197ABE48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529AF-7396-4E6D-8F5A-2C5342E6CB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7589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A4CB6D9-D778-4923-9EFC-0D5806AB3E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535323D-1C08-472F-8950-10EEFF22D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46BAF7-4DAB-4F9B-8542-E765378AF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9A4C-2E97-492E-927B-8EA78A00C7DC}" type="datetimeFigureOut">
              <a:rPr lang="zh-TW" altLang="en-US" smtClean="0"/>
              <a:t>2025/12/1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4D1144-4B5F-435B-80D1-47ED42F9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8A3989-8003-4F75-BA01-8F7A9EBCF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529AF-7396-4E6D-8F5A-2C5342E6CB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3416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6CAA6A1-9D8B-4601-8709-54E93E892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6BB24E9-7BEB-42A8-BA0E-8C165119A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C99DD5-7C9E-4A88-9FB9-ABD7A93C61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9A4C-2E97-492E-927B-8EA78A00C7DC}" type="datetimeFigureOut">
              <a:rPr lang="zh-TW" altLang="en-US" smtClean="0"/>
              <a:t>2025/12/1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B201C1-767B-4AEF-AF18-B09398BF3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A38F44-54FA-4637-B0D6-BBC202B05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529AF-7396-4E6D-8F5A-2C5342E6CBB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6487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ndy6804tw.github.io/crazyai-python/6.&#21934;&#20803;&#28204;&#35430;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E66B19-3481-4D8C-843C-D39436F601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/>
              <a:t>Pytest</a:t>
            </a:r>
            <a:r>
              <a:rPr lang="en-US" altLang="zh-TW" dirty="0"/>
              <a:t> </a:t>
            </a:r>
            <a:r>
              <a:rPr lang="zh-TW" altLang="en-US" dirty="0"/>
              <a:t>自動測試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044A139-C198-49F4-87FA-4B9A38221E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參考</a:t>
            </a:r>
            <a:endParaRPr lang="en-US" altLang="zh-TW" dirty="0"/>
          </a:p>
          <a:p>
            <a:r>
              <a:rPr lang="zh-TW" altLang="en-US" dirty="0">
                <a:hlinkClick r:id="rId2"/>
              </a:rPr>
              <a:t>https://andy6804tw.github.io/crazyai-python/</a:t>
            </a:r>
            <a:r>
              <a:rPr lang="en-US" altLang="zh-TW" dirty="0">
                <a:hlinkClick r:id="rId2"/>
              </a:rPr>
              <a:t>6.</a:t>
            </a:r>
            <a:r>
              <a:rPr lang="zh-TW" altLang="en-US" dirty="0">
                <a:hlinkClick r:id="rId2"/>
              </a:rPr>
              <a:t>單元測試/</a:t>
            </a:r>
            <a:r>
              <a:rPr lang="zh-TW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27132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53C531-22B6-4035-801A-4E92DD01B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自動測試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90B80B-8634-4F1D-86A3-EBEF981BF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275"/>
            <a:ext cx="10515600" cy="4738688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通常用在</a:t>
            </a:r>
            <a:r>
              <a:rPr lang="en-US" altLang="zh-TW" dirty="0"/>
              <a:t>unit test</a:t>
            </a:r>
            <a:r>
              <a:rPr lang="zh-TW" altLang="en-US" dirty="0"/>
              <a:t>，但也可使用適當工具</a:t>
            </a:r>
            <a:r>
              <a:rPr lang="en-US" altLang="zh-TW" dirty="0"/>
              <a:t>(</a:t>
            </a:r>
            <a:r>
              <a:rPr lang="zh-TW" altLang="en-US" dirty="0"/>
              <a:t>例如 </a:t>
            </a:r>
            <a:r>
              <a:rPr lang="en-US" altLang="zh-TW" dirty="0" err="1"/>
              <a:t>pyautogui</a:t>
            </a:r>
            <a:r>
              <a:rPr lang="en-US" altLang="zh-TW" dirty="0"/>
              <a:t>)</a:t>
            </a:r>
            <a:br>
              <a:rPr lang="en-US" altLang="zh-TW" dirty="0"/>
            </a:br>
            <a:r>
              <a:rPr lang="zh-TW" altLang="en-US" dirty="0"/>
              <a:t>用在其他測試上</a:t>
            </a:r>
            <a:endParaRPr lang="en-US" altLang="zh-TW" dirty="0"/>
          </a:p>
          <a:p>
            <a:r>
              <a:rPr lang="zh-TW" altLang="en-US" dirty="0"/>
              <a:t>當測試量龐大，或是有些測試希望可以重複進行時</a:t>
            </a:r>
            <a:endParaRPr lang="en-US" altLang="zh-TW" dirty="0"/>
          </a:p>
          <a:p>
            <a:r>
              <a:rPr lang="zh-TW" altLang="en-US" dirty="0"/>
              <a:t>作法</a:t>
            </a:r>
            <a:endParaRPr lang="en-US" altLang="zh-TW" dirty="0"/>
          </a:p>
          <a:p>
            <a:pPr lvl="1"/>
            <a:r>
              <a:rPr lang="zh-TW" altLang="en-US" dirty="0"/>
              <a:t>撰寫程式來進行</a:t>
            </a:r>
            <a:endParaRPr lang="en-US" altLang="zh-TW" dirty="0"/>
          </a:p>
          <a:p>
            <a:pPr lvl="1"/>
            <a:r>
              <a:rPr lang="zh-TW" altLang="en-US" dirty="0"/>
              <a:t>使用測試工具</a:t>
            </a:r>
            <a:endParaRPr lang="en-US" altLang="zh-TW" dirty="0"/>
          </a:p>
          <a:p>
            <a:pPr lvl="1"/>
            <a:r>
              <a:rPr lang="zh-TW" altLang="en-US" dirty="0"/>
              <a:t>通常會使用 </a:t>
            </a:r>
            <a:r>
              <a:rPr lang="en-US" altLang="zh-TW" dirty="0"/>
              <a:t>assert </a:t>
            </a:r>
            <a:r>
              <a:rPr lang="zh-TW" altLang="en-US" dirty="0"/>
              <a:t>指令確認執行成果是否正確</a:t>
            </a:r>
            <a:endParaRPr lang="en-US" altLang="zh-TW" dirty="0"/>
          </a:p>
          <a:p>
            <a:r>
              <a:rPr lang="zh-TW" altLang="en-US" dirty="0"/>
              <a:t>不同語言有對應常見的測試工具</a:t>
            </a:r>
            <a:endParaRPr lang="en-US" altLang="zh-TW" dirty="0"/>
          </a:p>
          <a:p>
            <a:r>
              <a:rPr lang="en-US" altLang="zh-TW" dirty="0"/>
              <a:t>Python</a:t>
            </a:r>
          </a:p>
          <a:p>
            <a:pPr lvl="1"/>
            <a:r>
              <a:rPr lang="zh-TW" altLang="en-US" dirty="0"/>
              <a:t>內建 </a:t>
            </a:r>
            <a:r>
              <a:rPr lang="en-US" altLang="zh-TW" dirty="0" err="1"/>
              <a:t>unittest</a:t>
            </a:r>
            <a:r>
              <a:rPr lang="zh-TW" altLang="en-US" dirty="0"/>
              <a:t>，不須安裝直接可用</a:t>
            </a:r>
            <a:endParaRPr lang="en-US" altLang="zh-TW" dirty="0"/>
          </a:p>
          <a:p>
            <a:pPr lvl="1"/>
            <a:r>
              <a:rPr lang="zh-TW" altLang="en-US" dirty="0"/>
              <a:t>常用工具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 err="1"/>
              <a:t>pytest</a:t>
            </a:r>
            <a:r>
              <a:rPr lang="en-US" altLang="zh-TW" dirty="0"/>
              <a:t>, </a:t>
            </a:r>
            <a:r>
              <a:rPr lang="zh-TW" altLang="en-US" dirty="0"/>
              <a:t>可透過 </a:t>
            </a:r>
            <a:r>
              <a:rPr lang="en-US" altLang="zh-TW" dirty="0"/>
              <a:t>pip install </a:t>
            </a:r>
            <a:r>
              <a:rPr lang="en-US" altLang="zh-TW" dirty="0" err="1"/>
              <a:t>pytest</a:t>
            </a:r>
            <a:r>
              <a:rPr lang="zh-TW" altLang="en-US" dirty="0"/>
              <a:t>安裝，教好用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26883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83509D-C616-426E-8CF6-CBA2E8072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基本邏輯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AED127-E9F1-4217-A3A5-D9C896E32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定義</a:t>
            </a:r>
            <a:r>
              <a:rPr lang="en-US" altLang="zh-TW" dirty="0"/>
              <a:t>/</a:t>
            </a:r>
            <a:r>
              <a:rPr lang="zh-TW" altLang="en-US" dirty="0"/>
              <a:t>匯入 待測函數</a:t>
            </a:r>
            <a:endParaRPr lang="en-US" altLang="zh-TW" dirty="0"/>
          </a:p>
          <a:p>
            <a:r>
              <a:rPr lang="zh-TW" altLang="en-US" dirty="0"/>
              <a:t>以設定好的參數呼叫函數，並比較回傳值是否如預期</a:t>
            </a:r>
            <a:endParaRPr lang="en-US" altLang="zh-TW" dirty="0"/>
          </a:p>
          <a:p>
            <a:pPr lvl="1"/>
            <a:r>
              <a:rPr lang="zh-TW" altLang="en-US" dirty="0"/>
              <a:t>如預期 </a:t>
            </a:r>
            <a:r>
              <a:rPr lang="en-US" altLang="zh-TW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 pass</a:t>
            </a:r>
          </a:p>
          <a:p>
            <a:pPr lvl="1"/>
            <a:r>
              <a:rPr lang="zh-TW" altLang="en-US" dirty="0">
                <a:sym typeface="Wingdings" panose="05000000000000000000" pitchFamily="2" charset="2"/>
              </a:rPr>
              <a:t>否 </a:t>
            </a:r>
            <a:r>
              <a:rPr lang="en-US" altLang="zh-TW" dirty="0">
                <a:sym typeface="Wingdings" panose="05000000000000000000" pitchFamily="2" charset="2"/>
              </a:rPr>
              <a:t> Bug/failed</a:t>
            </a:r>
            <a:endParaRPr lang="en-US" altLang="zh-TW" dirty="0"/>
          </a:p>
          <a:p>
            <a:r>
              <a:rPr lang="en-US" altLang="zh-TW" dirty="0"/>
              <a:t>assert </a:t>
            </a:r>
            <a:r>
              <a:rPr lang="zh-TW" altLang="en-US" dirty="0"/>
              <a:t>指令</a:t>
            </a:r>
            <a:r>
              <a:rPr lang="en-US" altLang="zh-TW" dirty="0"/>
              <a:t>:</a:t>
            </a:r>
            <a:r>
              <a:rPr lang="zh-TW" altLang="en-US" dirty="0"/>
              <a:t> 測試後面的</a:t>
            </a:r>
            <a:r>
              <a:rPr lang="en-US" altLang="zh-TW" dirty="0"/>
              <a:t>expression </a:t>
            </a:r>
            <a:r>
              <a:rPr lang="zh-TW" altLang="en-US" dirty="0"/>
              <a:t>是否為</a:t>
            </a:r>
            <a:r>
              <a:rPr lang="en-US" altLang="zh-TW" dirty="0"/>
              <a:t>true</a:t>
            </a:r>
          </a:p>
          <a:p>
            <a:pPr lvl="1"/>
            <a:r>
              <a:rPr lang="en-US" altLang="zh-TW" dirty="0"/>
              <a:t>True: </a:t>
            </a:r>
            <a:r>
              <a:rPr lang="zh-TW" altLang="en-US" dirty="0"/>
              <a:t>往下執行</a:t>
            </a:r>
            <a:endParaRPr lang="en-US" altLang="zh-TW" dirty="0"/>
          </a:p>
          <a:p>
            <a:pPr lvl="1"/>
            <a:r>
              <a:rPr lang="en-US" altLang="zh-TW" dirty="0"/>
              <a:t>False: </a:t>
            </a:r>
            <a:r>
              <a:rPr lang="zh-TW" altLang="en-US" dirty="0"/>
              <a:t>產生</a:t>
            </a:r>
            <a:r>
              <a:rPr lang="en-US" altLang="zh-TW" dirty="0"/>
              <a:t>exception </a:t>
            </a:r>
            <a:r>
              <a:rPr lang="zh-TW" altLang="en-US" dirty="0"/>
              <a:t>中斷執行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59846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B34B515-9BF6-4C5B-ABEC-1726FDA5D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 </a:t>
            </a:r>
            <a:r>
              <a:rPr lang="zh-TW" altLang="en-US" dirty="0"/>
              <a:t>範例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C89BC40-FB60-46F0-A52D-DABF36139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619625" cy="4351338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dirty="0"/>
              <a:t>待測程式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math_func.py</a:t>
            </a:r>
          </a:p>
          <a:p>
            <a:pPr marL="0" indent="0">
              <a:buNone/>
            </a:pP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# math_func.py</a:t>
            </a:r>
          </a:p>
          <a:p>
            <a:pPr marL="0" indent="0">
              <a:buNone/>
            </a:pP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def add(x, y): </a:t>
            </a:r>
          </a:p>
          <a:p>
            <a:pPr marL="0" indent="0">
              <a:buNone/>
            </a:pPr>
            <a:r>
              <a:rPr lang="en-US" altLang="zh-TW" dirty="0">
                <a:solidFill>
                  <a:srgbClr val="36464E"/>
                </a:solidFill>
                <a:latin typeface="Roboto Mono"/>
              </a:rPr>
              <a:t>	</a:t>
            </a: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return x + y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A4D64AA-E325-46D2-9D8B-222CEFBBF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3050" y="1825625"/>
            <a:ext cx="6000750" cy="4351338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dirty="0"/>
              <a:t>自動測試程式 </a:t>
            </a:r>
            <a:r>
              <a:rPr lang="en-US" altLang="zh-TW" dirty="0"/>
              <a:t>test_math_func.py</a:t>
            </a:r>
          </a:p>
          <a:p>
            <a:pPr marL="0" indent="0">
              <a:buNone/>
            </a:pP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# test_math_func.py</a:t>
            </a:r>
          </a:p>
          <a:p>
            <a:pPr marL="0" indent="0">
              <a:buNone/>
            </a:pP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from </a:t>
            </a:r>
            <a:r>
              <a:rPr lang="en-US" altLang="zh-TW" b="0" i="0" dirty="0" err="1">
                <a:solidFill>
                  <a:srgbClr val="36464E"/>
                </a:solidFill>
                <a:effectLst/>
                <a:latin typeface="Roboto Mono"/>
              </a:rPr>
              <a:t>math_func</a:t>
            </a: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 import add</a:t>
            </a:r>
          </a:p>
          <a:p>
            <a:pPr marL="0" indent="0">
              <a:buNone/>
            </a:pP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def </a:t>
            </a:r>
            <a:r>
              <a:rPr lang="en-US" altLang="zh-TW" b="0" i="0" dirty="0" err="1">
                <a:solidFill>
                  <a:srgbClr val="36464E"/>
                </a:solidFill>
                <a:effectLst/>
                <a:latin typeface="Roboto Mono"/>
              </a:rPr>
              <a:t>test_add</a:t>
            </a: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(): </a:t>
            </a:r>
          </a:p>
          <a:p>
            <a:pPr marL="0" indent="0">
              <a:buNone/>
            </a:pPr>
            <a:r>
              <a:rPr lang="en-US" altLang="zh-TW" dirty="0">
                <a:solidFill>
                  <a:srgbClr val="36464E"/>
                </a:solidFill>
                <a:latin typeface="Roboto Mono"/>
              </a:rPr>
              <a:t>	</a:t>
            </a: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assert add(1, 2) == 3</a:t>
            </a:r>
          </a:p>
          <a:p>
            <a:pPr marL="0" indent="0">
              <a:buNone/>
            </a:pPr>
            <a:r>
              <a:rPr lang="en-US" altLang="zh-TW" dirty="0">
                <a:solidFill>
                  <a:srgbClr val="36464E"/>
                </a:solidFill>
                <a:latin typeface="Roboto Mono"/>
              </a:rPr>
              <a:t>	</a:t>
            </a: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assert add(0, 0) == 0</a:t>
            </a:r>
          </a:p>
          <a:p>
            <a:pPr marL="0" indent="0">
              <a:buNone/>
            </a:pPr>
            <a:r>
              <a:rPr lang="en-US" altLang="zh-TW" dirty="0">
                <a:solidFill>
                  <a:srgbClr val="36464E"/>
                </a:solidFill>
                <a:latin typeface="Roboto Mono"/>
              </a:rPr>
              <a:t>	</a:t>
            </a: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assert add(-1, 1) == 0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#</a:t>
            </a:r>
            <a:r>
              <a:rPr lang="zh-TW" altLang="en-US" dirty="0"/>
              <a:t>呼叫測試函數進行測試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err="1"/>
              <a:t>test_add</a:t>
            </a:r>
            <a:r>
              <a:rPr lang="en-US" altLang="zh-TW" dirty="0"/>
              <a:t>()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83197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CC5CA3-70A8-4CE5-912B-C8B5034F1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 err="1"/>
              <a:t>pytest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4B6818-96FA-40AC-90A3-B489DC4F8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需先安裝好</a:t>
            </a:r>
            <a:r>
              <a:rPr lang="en-US" altLang="zh-TW" dirty="0" err="1"/>
              <a:t>pytest</a:t>
            </a:r>
            <a:endParaRPr lang="en-US" altLang="zh-TW" dirty="0"/>
          </a:p>
          <a:p>
            <a:pPr lvl="1"/>
            <a:r>
              <a:rPr lang="en-US" altLang="zh-TW" dirty="0"/>
              <a:t>pip install </a:t>
            </a:r>
            <a:r>
              <a:rPr lang="en-US" altLang="zh-TW" dirty="0" err="1"/>
              <a:t>pytest</a:t>
            </a:r>
            <a:endParaRPr lang="en-US" altLang="zh-TW" dirty="0"/>
          </a:p>
          <a:p>
            <a:pPr lvl="1"/>
            <a:r>
              <a:rPr lang="zh-TW" altLang="en-US" dirty="0"/>
              <a:t>安裝好後可以在命令列執行 </a:t>
            </a:r>
            <a:r>
              <a:rPr lang="en-US" altLang="zh-TW" dirty="0" err="1"/>
              <a:t>pytest</a:t>
            </a:r>
            <a:r>
              <a:rPr lang="zh-TW" altLang="en-US" dirty="0"/>
              <a:t>指令</a:t>
            </a:r>
            <a:endParaRPr lang="en-US" altLang="zh-TW" dirty="0"/>
          </a:p>
          <a:p>
            <a:r>
              <a:rPr lang="zh-TW" altLang="en-US" dirty="0"/>
              <a:t>在專案目錄開啟命令視窗</a:t>
            </a:r>
            <a:endParaRPr lang="en-US" altLang="zh-TW" dirty="0"/>
          </a:p>
          <a:p>
            <a:r>
              <a:rPr lang="zh-TW" altLang="en-US" dirty="0"/>
              <a:t>在命令列執行 </a:t>
            </a:r>
            <a:r>
              <a:rPr lang="en-US" altLang="zh-TW" dirty="0" err="1"/>
              <a:t>pytest</a:t>
            </a:r>
            <a:endParaRPr lang="en-US" altLang="zh-TW" dirty="0"/>
          </a:p>
          <a:p>
            <a:pPr lvl="1"/>
            <a:r>
              <a:rPr lang="en-US" altLang="zh-TW" dirty="0" err="1"/>
              <a:t>pytest</a:t>
            </a:r>
            <a:r>
              <a:rPr lang="zh-TW" altLang="en-US" dirty="0"/>
              <a:t>會自動在目錄中尋找 所有 </a:t>
            </a:r>
            <a:r>
              <a:rPr lang="en-US" altLang="zh-TW" dirty="0">
                <a:solidFill>
                  <a:srgbClr val="FF0000"/>
                </a:solidFill>
              </a:rPr>
              <a:t>test_</a:t>
            </a:r>
            <a:r>
              <a:rPr lang="zh-TW" altLang="en-US" dirty="0"/>
              <a:t>  開頭的</a:t>
            </a:r>
            <a:r>
              <a:rPr lang="en-US" altLang="zh-TW" dirty="0"/>
              <a:t>python</a:t>
            </a:r>
            <a:r>
              <a:rPr lang="zh-TW" altLang="en-US" dirty="0"/>
              <a:t>程式</a:t>
            </a:r>
            <a:endParaRPr lang="en-US" altLang="zh-TW" dirty="0"/>
          </a:p>
          <a:p>
            <a:pPr lvl="1"/>
            <a:r>
              <a:rPr lang="zh-TW" altLang="en-US" dirty="0"/>
              <a:t>並在程式中自動尋找並執行</a:t>
            </a:r>
            <a:r>
              <a:rPr lang="en-US" altLang="zh-TW" dirty="0">
                <a:solidFill>
                  <a:srgbClr val="FF0000"/>
                </a:solidFill>
              </a:rPr>
              <a:t>test_</a:t>
            </a:r>
            <a:r>
              <a:rPr lang="en-US" altLang="zh-TW" dirty="0"/>
              <a:t> </a:t>
            </a:r>
            <a:r>
              <a:rPr lang="zh-TW" altLang="en-US" dirty="0"/>
              <a:t>開頭的函數，進行測試</a:t>
            </a:r>
            <a:endParaRPr lang="en-US" altLang="zh-TW" dirty="0"/>
          </a:p>
          <a:p>
            <a:pPr lvl="1"/>
            <a:r>
              <a:rPr lang="zh-TW" altLang="en-US" dirty="0"/>
              <a:t>不用自己逐一呼叫執行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59437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70B6E3-EE8A-451E-BE87-5430CE27C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Pytest</a:t>
            </a:r>
            <a:r>
              <a:rPr lang="en-US" altLang="zh-TW" dirty="0"/>
              <a:t>: </a:t>
            </a:r>
            <a:r>
              <a:rPr lang="zh-TW" altLang="en-US" dirty="0"/>
              <a:t>使用參數矩陣</a:t>
            </a:r>
            <a:r>
              <a:rPr lang="en-US" altLang="zh-TW" dirty="0"/>
              <a:t>(</a:t>
            </a: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parametrize)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C8C503-C476-46C0-98B1-D4CFA410F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/>
              <a:t>可以將多項測試放入矩陣中批次執行</a:t>
            </a:r>
            <a:endParaRPr lang="en-US" altLang="zh-TW" dirty="0"/>
          </a:p>
          <a:p>
            <a:r>
              <a:rPr lang="zh-TW" altLang="en-US" dirty="0"/>
              <a:t>範例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import </a:t>
            </a:r>
            <a:r>
              <a:rPr lang="en-US" altLang="zh-TW" b="0" i="0" dirty="0" err="1">
                <a:solidFill>
                  <a:srgbClr val="36464E"/>
                </a:solidFill>
                <a:effectLst/>
                <a:latin typeface="Roboto Mono"/>
              </a:rPr>
              <a:t>pytest</a:t>
            </a:r>
            <a:endParaRPr lang="en-US" altLang="zh-TW" b="0" i="0" dirty="0">
              <a:solidFill>
                <a:srgbClr val="36464E"/>
              </a:solidFill>
              <a:effectLst/>
              <a:latin typeface="Roboto Mono"/>
            </a:endParaRPr>
          </a:p>
          <a:p>
            <a:pPr marL="0" indent="0">
              <a:buNone/>
            </a:pP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from </a:t>
            </a:r>
            <a:r>
              <a:rPr lang="en-US" altLang="zh-TW" b="0" i="0" dirty="0" err="1">
                <a:solidFill>
                  <a:srgbClr val="36464E"/>
                </a:solidFill>
                <a:effectLst/>
                <a:latin typeface="Roboto Mono"/>
              </a:rPr>
              <a:t>math_func</a:t>
            </a: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 import add</a:t>
            </a:r>
          </a:p>
          <a:p>
            <a:pPr marL="0" indent="0">
              <a:buNone/>
            </a:pPr>
            <a:r>
              <a:rPr lang="en-US" altLang="zh-TW" b="0" i="0" dirty="0">
                <a:solidFill>
                  <a:srgbClr val="FF0000"/>
                </a:solidFill>
                <a:effectLst/>
                <a:latin typeface="Roboto Mono"/>
              </a:rPr>
              <a:t>@pytest.mark.parametrize</a:t>
            </a: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("</a:t>
            </a:r>
            <a:r>
              <a:rPr lang="en-US" altLang="zh-TW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Roboto Mono"/>
              </a:rPr>
              <a:t>a, b, expected</a:t>
            </a: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", </a:t>
            </a:r>
          </a:p>
          <a:p>
            <a:pPr marL="0" indent="0">
              <a:buNone/>
            </a:pP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	[ (1, 2, 3), (0, 0, 0), (-1, -1, -2), (-1, 2, 1) ]</a:t>
            </a:r>
          </a:p>
          <a:p>
            <a:pPr marL="0" indent="0">
              <a:buNone/>
            </a:pP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)</a:t>
            </a:r>
          </a:p>
          <a:p>
            <a:pPr marL="0" indent="0">
              <a:buNone/>
            </a:pPr>
            <a:endParaRPr lang="en-US" altLang="zh-TW" dirty="0">
              <a:solidFill>
                <a:srgbClr val="36464E"/>
              </a:solidFill>
              <a:latin typeface="Roboto Mono"/>
            </a:endParaRPr>
          </a:p>
          <a:p>
            <a:pPr marL="0" indent="0">
              <a:buNone/>
            </a:pP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def </a:t>
            </a:r>
            <a:r>
              <a:rPr lang="en-US" altLang="zh-TW" b="0" i="0" dirty="0" err="1">
                <a:solidFill>
                  <a:srgbClr val="36464E"/>
                </a:solidFill>
                <a:effectLst/>
                <a:latin typeface="Roboto Mono"/>
              </a:rPr>
              <a:t>test_add</a:t>
            </a: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(</a:t>
            </a:r>
            <a:r>
              <a:rPr lang="en-US" altLang="zh-TW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Roboto Mono"/>
              </a:rPr>
              <a:t>a, b, expected</a:t>
            </a: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):</a:t>
            </a:r>
          </a:p>
          <a:p>
            <a:pPr marL="0" indent="0">
              <a:buNone/>
            </a:pP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	assert add(a, b) == expected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0668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BE4375-AFF2-4953-81B2-7E3C37C10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Pytest</a:t>
            </a:r>
            <a:r>
              <a:rPr lang="en-US" altLang="zh-TW" dirty="0"/>
              <a:t>:</a:t>
            </a:r>
            <a:r>
              <a:rPr lang="zh-TW" altLang="en-US" b="0" i="0" dirty="0">
                <a:effectLst/>
                <a:latin typeface="Roboto" panose="02000000000000000000" pitchFamily="2" charset="0"/>
              </a:rPr>
              <a:t>設置測試前的準備步驟</a:t>
            </a:r>
            <a:r>
              <a:rPr lang="en-US" altLang="zh-TW" dirty="0"/>
              <a:t>(</a:t>
            </a: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fixture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3DAE34-9CD1-4C4E-8477-B1DC1E435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有時在測試前需要先設置好相關物件、連線</a:t>
            </a:r>
            <a:r>
              <a:rPr lang="en-US" altLang="zh-TW" dirty="0"/>
              <a:t>DB</a:t>
            </a:r>
            <a:r>
              <a:rPr lang="zh-TW" altLang="en-US" dirty="0"/>
              <a:t>、或是初始化變數</a:t>
            </a:r>
            <a:endParaRPr lang="en-US" altLang="zh-TW" dirty="0"/>
          </a:p>
          <a:p>
            <a:r>
              <a:rPr lang="zh-TW" altLang="en-US" dirty="0"/>
              <a:t>可以使用</a:t>
            </a:r>
            <a:r>
              <a:rPr lang="en-US" altLang="zh-TW" dirty="0"/>
              <a:t>fixture </a:t>
            </a:r>
            <a:r>
              <a:rPr lang="zh-TW" altLang="en-US" dirty="0"/>
              <a:t>設置測試前的準備步驟，例如初始化資料庫或建立物件等</a:t>
            </a:r>
            <a:endParaRPr lang="en-US" altLang="zh-TW" dirty="0"/>
          </a:p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</a:p>
          <a:p>
            <a:pPr marL="0" indent="0">
              <a:buNone/>
            </a:pP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import </a:t>
            </a:r>
            <a:r>
              <a:rPr lang="en-US" altLang="zh-TW" b="0" i="0" dirty="0" err="1">
                <a:solidFill>
                  <a:srgbClr val="36464E"/>
                </a:solidFill>
                <a:effectLst/>
                <a:latin typeface="Roboto Mono"/>
              </a:rPr>
              <a:t>pytest</a:t>
            </a:r>
            <a:endParaRPr lang="en-US" altLang="zh-TW" b="0" i="0" dirty="0">
              <a:solidFill>
                <a:srgbClr val="36464E"/>
              </a:solidFill>
              <a:effectLst/>
              <a:latin typeface="Roboto Mono"/>
            </a:endParaRPr>
          </a:p>
          <a:p>
            <a:pPr marL="0" indent="0">
              <a:buNone/>
            </a:pP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@pytest.fixture</a:t>
            </a:r>
          </a:p>
          <a:p>
            <a:pPr marL="0" indent="0">
              <a:buNone/>
            </a:pP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def </a:t>
            </a:r>
            <a:r>
              <a:rPr lang="en-US" altLang="zh-TW" b="0" i="0" dirty="0" err="1">
                <a:solidFill>
                  <a:srgbClr val="36464E"/>
                </a:solidFill>
                <a:effectLst/>
                <a:latin typeface="Roboto Mono"/>
              </a:rPr>
              <a:t>sample_data</a:t>
            </a: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(): </a:t>
            </a:r>
          </a:p>
          <a:p>
            <a:pPr marL="0" indent="0">
              <a:buNone/>
            </a:pP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	return {"key": "value"}</a:t>
            </a:r>
          </a:p>
          <a:p>
            <a:pPr marL="0" indent="0">
              <a:buNone/>
            </a:pP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def </a:t>
            </a:r>
            <a:r>
              <a:rPr lang="en-US" altLang="zh-TW" b="0" i="0" dirty="0" err="1">
                <a:solidFill>
                  <a:srgbClr val="36464E"/>
                </a:solidFill>
                <a:effectLst/>
                <a:latin typeface="Roboto Mono"/>
              </a:rPr>
              <a:t>test_sample_data</a:t>
            </a: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(</a:t>
            </a:r>
            <a:r>
              <a:rPr lang="en-US" altLang="zh-TW" b="0" i="0" dirty="0" err="1">
                <a:solidFill>
                  <a:srgbClr val="36464E"/>
                </a:solidFill>
                <a:effectLst/>
                <a:latin typeface="Roboto Mono"/>
              </a:rPr>
              <a:t>sample_data</a:t>
            </a: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):</a:t>
            </a:r>
          </a:p>
          <a:p>
            <a:pPr marL="0" indent="0">
              <a:buNone/>
            </a:pPr>
            <a:r>
              <a:rPr lang="en-US" altLang="zh-TW" dirty="0">
                <a:solidFill>
                  <a:srgbClr val="36464E"/>
                </a:solidFill>
                <a:latin typeface="Roboto Mono"/>
              </a:rPr>
              <a:t>	</a:t>
            </a: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assert </a:t>
            </a:r>
            <a:r>
              <a:rPr lang="en-US" altLang="zh-TW" b="0" i="0" dirty="0" err="1">
                <a:solidFill>
                  <a:srgbClr val="36464E"/>
                </a:solidFill>
                <a:effectLst/>
                <a:latin typeface="Roboto Mono"/>
              </a:rPr>
              <a:t>sample_data</a:t>
            </a: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["key"] == "value"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5652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6FA343-7B1A-4FC5-9A29-B280E752A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Pytest</a:t>
            </a:r>
            <a:r>
              <a:rPr lang="en-US" altLang="zh-TW" dirty="0"/>
              <a:t> </a:t>
            </a:r>
            <a:r>
              <a:rPr lang="zh-TW" altLang="en-US" dirty="0"/>
              <a:t>測試報告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7CBA5A-FFAA-429A-BEC4-216115A53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可以安裝 </a:t>
            </a:r>
            <a:r>
              <a:rPr lang="en-US" altLang="zh-TW" dirty="0" err="1"/>
              <a:t>pytest</a:t>
            </a:r>
            <a:r>
              <a:rPr lang="en-US" altLang="zh-TW" dirty="0"/>
              <a:t>-html</a:t>
            </a:r>
            <a:r>
              <a:rPr lang="zh-TW" altLang="en-US" dirty="0"/>
              <a:t> ，將測試結果產生網頁報告</a:t>
            </a:r>
            <a:endParaRPr lang="en-US" altLang="zh-TW" dirty="0"/>
          </a:p>
          <a:p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pip install </a:t>
            </a:r>
            <a:r>
              <a:rPr lang="en-US" altLang="zh-TW" b="0" i="0" dirty="0" err="1">
                <a:solidFill>
                  <a:srgbClr val="36464E"/>
                </a:solidFill>
                <a:effectLst/>
                <a:latin typeface="Roboto Mono"/>
              </a:rPr>
              <a:t>pytest</a:t>
            </a:r>
            <a:r>
              <a:rPr lang="en-US" altLang="zh-TW" b="0" i="0" dirty="0">
                <a:solidFill>
                  <a:srgbClr val="36464E"/>
                </a:solidFill>
                <a:effectLst/>
                <a:latin typeface="Roboto Mono"/>
              </a:rPr>
              <a:t>-html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在命令列加上 </a:t>
            </a:r>
            <a:r>
              <a:rPr lang="en-US" altLang="zh-TW" dirty="0"/>
              <a:t>--html=</a:t>
            </a:r>
            <a:r>
              <a:rPr lang="zh-TW" altLang="en-US" dirty="0"/>
              <a:t>網頁檔名即可自動產生網頁版測試報告</a:t>
            </a:r>
            <a:endParaRPr lang="en-US" altLang="zh-TW" dirty="0"/>
          </a:p>
          <a:p>
            <a:r>
              <a:rPr lang="en-US" altLang="zh-TW" dirty="0" err="1"/>
              <a:t>pytest</a:t>
            </a:r>
            <a:r>
              <a:rPr lang="en-US" altLang="zh-TW" dirty="0"/>
              <a:t>  -v --html=myReport.html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4185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551A6D-1330-4B45-869E-23D4891CF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 err="1"/>
              <a:t>pytest</a:t>
            </a:r>
            <a:r>
              <a:rPr lang="en-US" altLang="zh-TW" dirty="0"/>
              <a:t> </a:t>
            </a:r>
            <a:r>
              <a:rPr lang="zh-TW" altLang="en-US" dirty="0"/>
              <a:t>測試 </a:t>
            </a:r>
            <a:r>
              <a:rPr lang="en-US" altLang="zh-TW" dirty="0" err="1"/>
              <a:t>fastapi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29709D-1C75-4A37-A904-58C16358B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對於一般同步</a:t>
            </a:r>
            <a:r>
              <a:rPr lang="en-US" altLang="zh-TW" dirty="0"/>
              <a:t>(sync)</a:t>
            </a:r>
            <a:r>
              <a:rPr lang="zh-TW" altLang="en-US" dirty="0"/>
              <a:t>的</a:t>
            </a:r>
            <a:r>
              <a:rPr lang="en-US" altLang="zh-TW" dirty="0"/>
              <a:t>route, </a:t>
            </a:r>
            <a:r>
              <a:rPr lang="zh-TW" altLang="en-US" dirty="0"/>
              <a:t>可以使用</a:t>
            </a:r>
            <a:r>
              <a:rPr lang="en-US" altLang="zh-TW" dirty="0" err="1"/>
              <a:t>fastapi</a:t>
            </a:r>
            <a:r>
              <a:rPr lang="zh-TW" altLang="en-US" dirty="0"/>
              <a:t>內建的</a:t>
            </a:r>
            <a:r>
              <a:rPr lang="en-US" altLang="zh-TW" dirty="0" err="1"/>
              <a:t>TestClient</a:t>
            </a:r>
            <a:r>
              <a:rPr lang="zh-TW" altLang="en-US" dirty="0"/>
              <a:t>來模擬連線發</a:t>
            </a:r>
            <a:r>
              <a:rPr lang="en-US" altLang="zh-TW" dirty="0"/>
              <a:t>request</a:t>
            </a:r>
          </a:p>
          <a:p>
            <a:r>
              <a:rPr lang="zh-TW" altLang="en-US" dirty="0"/>
              <a:t>對於非同步</a:t>
            </a:r>
            <a:r>
              <a:rPr lang="en-US" altLang="zh-TW" dirty="0"/>
              <a:t>(async)</a:t>
            </a:r>
            <a:r>
              <a:rPr lang="zh-TW" altLang="en-US" dirty="0"/>
              <a:t>的</a:t>
            </a:r>
            <a:r>
              <a:rPr lang="en-US" altLang="zh-TW" dirty="0"/>
              <a:t>route</a:t>
            </a:r>
            <a:r>
              <a:rPr lang="zh-TW" altLang="en-US" dirty="0"/>
              <a:t>，需使用第三方套件來處理</a:t>
            </a:r>
            <a:r>
              <a:rPr lang="en-US" altLang="zh-TW" dirty="0"/>
              <a:t>request</a:t>
            </a:r>
            <a:r>
              <a:rPr lang="zh-TW" altLang="en-US" dirty="0"/>
              <a:t>，常用的套件為 </a:t>
            </a:r>
            <a:r>
              <a:rPr lang="en-US" altLang="zh-TW" dirty="0" err="1"/>
              <a:t>httpx</a:t>
            </a:r>
            <a:endParaRPr lang="en-US" altLang="zh-TW" dirty="0"/>
          </a:p>
          <a:p>
            <a:pPr lvl="1"/>
            <a:r>
              <a:rPr lang="en-US" altLang="zh-TW" dirty="0"/>
              <a:t>pip install </a:t>
            </a:r>
            <a:r>
              <a:rPr lang="en-US" altLang="zh-TW" dirty="0" err="1"/>
              <a:t>httpx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7400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2F513D-5AB8-446F-8E28-9B08C6083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使用內建</a:t>
            </a:r>
            <a:r>
              <a:rPr lang="en-US" altLang="zh-TW" dirty="0" err="1"/>
              <a:t>Testclient</a:t>
            </a:r>
            <a:r>
              <a:rPr lang="zh-TW" altLang="en-US" dirty="0"/>
              <a:t>範例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68558E-1D6A-4222-9E8B-84A1550CC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fastapi.testclient</a:t>
            </a:r>
            <a:r>
              <a:rPr lang="en-US" altLang="zh-TW" dirty="0"/>
              <a:t> import </a:t>
            </a:r>
            <a:r>
              <a:rPr lang="en-US" altLang="zh-TW" dirty="0" err="1"/>
              <a:t>TestClient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from main import app</a:t>
            </a:r>
            <a:r>
              <a:rPr lang="zh-TW" altLang="en-US" dirty="0"/>
              <a:t> </a:t>
            </a:r>
            <a:r>
              <a:rPr lang="en-US" altLang="zh-TW" dirty="0"/>
              <a:t>#</a:t>
            </a:r>
            <a:r>
              <a:rPr lang="zh-TW" altLang="en-US" dirty="0"/>
              <a:t>假設</a:t>
            </a:r>
            <a:r>
              <a:rPr lang="en-US" altLang="zh-TW" dirty="0" err="1"/>
              <a:t>fastapi</a:t>
            </a:r>
            <a:r>
              <a:rPr lang="zh-TW" altLang="en-US" dirty="0"/>
              <a:t>主程式為</a:t>
            </a:r>
            <a:r>
              <a:rPr lang="en-US" altLang="zh-TW" dirty="0"/>
              <a:t>main.py</a:t>
            </a:r>
          </a:p>
          <a:p>
            <a:pPr marL="0" indent="0">
              <a:buNone/>
            </a:pPr>
            <a:r>
              <a:rPr lang="en-US" altLang="zh-TW" dirty="0"/>
              <a:t>#</a:t>
            </a:r>
            <a:r>
              <a:rPr lang="zh-TW" altLang="en-US" dirty="0"/>
              <a:t>創建連線</a:t>
            </a:r>
            <a:r>
              <a:rPr lang="en-US" altLang="zh-TW" dirty="0"/>
              <a:t>client</a:t>
            </a:r>
          </a:p>
          <a:p>
            <a:pPr marL="0" indent="0">
              <a:buNone/>
            </a:pPr>
            <a:r>
              <a:rPr lang="en-US" altLang="zh-TW" dirty="0"/>
              <a:t>client = </a:t>
            </a:r>
            <a:r>
              <a:rPr lang="en-US" altLang="zh-TW" dirty="0" err="1"/>
              <a:t>TestClient</a:t>
            </a:r>
            <a:r>
              <a:rPr lang="en-US" altLang="zh-TW" dirty="0"/>
              <a:t>(app)</a:t>
            </a:r>
          </a:p>
          <a:p>
            <a:pPr marL="0" indent="0">
              <a:buNone/>
            </a:pPr>
            <a:r>
              <a:rPr lang="en-US" altLang="zh-TW" dirty="0"/>
              <a:t>#</a:t>
            </a:r>
            <a:r>
              <a:rPr lang="zh-TW" altLang="en-US" dirty="0"/>
              <a:t>定義測試函數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def </a:t>
            </a:r>
            <a:r>
              <a:rPr lang="en-US" altLang="zh-TW" dirty="0" err="1"/>
              <a:t>test_read_hello</a:t>
            </a:r>
            <a:r>
              <a:rPr lang="en-US" altLang="zh-TW" dirty="0"/>
              <a:t>():</a:t>
            </a:r>
          </a:p>
          <a:p>
            <a:pPr marL="0" indent="0">
              <a:buNone/>
            </a:pPr>
            <a:r>
              <a:rPr lang="en-US" altLang="zh-TW" dirty="0"/>
              <a:t>    response = </a:t>
            </a:r>
            <a:r>
              <a:rPr lang="en-US" altLang="zh-TW" dirty="0" err="1"/>
              <a:t>client.get</a:t>
            </a:r>
            <a:r>
              <a:rPr lang="en-US" altLang="zh-TW" dirty="0"/>
              <a:t>(“/hello”)</a:t>
            </a:r>
            <a:r>
              <a:rPr lang="zh-TW" altLang="en-US" dirty="0"/>
              <a:t> </a:t>
            </a:r>
            <a:r>
              <a:rPr lang="en-US" altLang="zh-TW" dirty="0"/>
              <a:t>#</a:t>
            </a:r>
            <a:r>
              <a:rPr lang="zh-TW" altLang="en-US" dirty="0"/>
              <a:t>對</a:t>
            </a:r>
            <a:r>
              <a:rPr lang="en-US" altLang="zh-TW" dirty="0"/>
              <a:t>/hello</a:t>
            </a:r>
            <a:r>
              <a:rPr lang="zh-TW" altLang="en-US" dirty="0"/>
              <a:t>發</a:t>
            </a:r>
            <a:r>
              <a:rPr lang="en-US" altLang="zh-TW" dirty="0"/>
              <a:t>get request</a:t>
            </a:r>
          </a:p>
          <a:p>
            <a:pPr marL="0" indent="0">
              <a:buNone/>
            </a:pPr>
            <a:r>
              <a:rPr lang="en-US" altLang="zh-TW" dirty="0"/>
              <a:t>    assert </a:t>
            </a:r>
            <a:r>
              <a:rPr lang="en-US" altLang="zh-TW" dirty="0" err="1"/>
              <a:t>response.status_code</a:t>
            </a:r>
            <a:r>
              <a:rPr lang="en-US" altLang="zh-TW" dirty="0"/>
              <a:t> == 200 #</a:t>
            </a:r>
            <a:r>
              <a:rPr lang="zh-TW" altLang="en-US" dirty="0"/>
              <a:t>檢查</a:t>
            </a:r>
            <a:r>
              <a:rPr lang="en-US" altLang="zh-TW" dirty="0"/>
              <a:t>http response code</a:t>
            </a:r>
          </a:p>
          <a:p>
            <a:pPr marL="0" indent="0">
              <a:buNone/>
            </a:pPr>
            <a:r>
              <a:rPr lang="en-US" altLang="zh-TW" dirty="0"/>
              <a:t>    assert </a:t>
            </a:r>
            <a:r>
              <a:rPr lang="en-US" altLang="zh-TW" dirty="0" err="1"/>
              <a:t>response.json</a:t>
            </a:r>
            <a:r>
              <a:rPr lang="en-US" altLang="zh-TW" dirty="0"/>
              <a:t>() == {“message”: “Hello, World!”} #</a:t>
            </a:r>
            <a:r>
              <a:rPr lang="zh-TW" altLang="en-US" dirty="0"/>
              <a:t>檢查傳回值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95673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D9327C-AF45-4575-A6FE-D86AE8B6F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 err="1"/>
              <a:t>httpx</a:t>
            </a:r>
            <a:r>
              <a:rPr lang="zh-TW" altLang="en-US" dirty="0"/>
              <a:t>之</a:t>
            </a:r>
            <a:r>
              <a:rPr lang="en-US" altLang="zh-TW" dirty="0" err="1"/>
              <a:t>AsyncClient</a:t>
            </a:r>
            <a:r>
              <a:rPr lang="zh-TW" altLang="en-US" dirty="0"/>
              <a:t>範例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80FBE5-D274-4BF1-BF9F-DD7D14689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import </a:t>
            </a:r>
            <a:r>
              <a:rPr lang="en-US" altLang="zh-TW" dirty="0" err="1"/>
              <a:t>pytest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httpx</a:t>
            </a:r>
            <a:r>
              <a:rPr lang="en-US" altLang="zh-TW" dirty="0"/>
              <a:t> import </a:t>
            </a:r>
            <a:r>
              <a:rPr lang="en-US" altLang="zh-TW" dirty="0" err="1">
                <a:solidFill>
                  <a:srgbClr val="FF0000"/>
                </a:solidFill>
              </a:rPr>
              <a:t>AsyncClient</a:t>
            </a:r>
            <a:endParaRPr lang="en-US" altLang="zh-TW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TW" dirty="0"/>
              <a:t>from main import app #</a:t>
            </a:r>
            <a:r>
              <a:rPr lang="zh-TW" altLang="en-US" dirty="0"/>
              <a:t>假設</a:t>
            </a:r>
            <a:r>
              <a:rPr lang="en-US" altLang="zh-TW" dirty="0" err="1"/>
              <a:t>fastapi</a:t>
            </a:r>
            <a:r>
              <a:rPr lang="zh-TW" altLang="en-US" dirty="0"/>
              <a:t>主程式為</a:t>
            </a:r>
            <a:r>
              <a:rPr lang="en-US" altLang="zh-TW" dirty="0"/>
              <a:t>main.py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@pytest.mark.asyncio #</a:t>
            </a:r>
            <a:r>
              <a:rPr lang="zh-TW" altLang="en-US" dirty="0"/>
              <a:t>標記使用</a:t>
            </a:r>
            <a:r>
              <a:rPr lang="en-US" altLang="zh-TW" dirty="0" err="1"/>
              <a:t>asyncio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async</a:t>
            </a:r>
            <a:r>
              <a:rPr lang="en-US" altLang="zh-TW" dirty="0"/>
              <a:t> def </a:t>
            </a:r>
            <a:r>
              <a:rPr lang="en-US" altLang="zh-TW" dirty="0" err="1"/>
              <a:t>test_number</a:t>
            </a:r>
            <a:r>
              <a:rPr lang="en-US" altLang="zh-TW" dirty="0"/>
              <a:t>():</a:t>
            </a:r>
          </a:p>
          <a:p>
            <a:pPr marL="0" indent="0">
              <a:buNone/>
            </a:pPr>
            <a:r>
              <a:rPr lang="en-US" altLang="zh-TW" dirty="0"/>
              <a:t>	async with </a:t>
            </a:r>
            <a:r>
              <a:rPr lang="en-US" altLang="zh-TW" dirty="0" err="1"/>
              <a:t>AsyncClient</a:t>
            </a:r>
            <a:r>
              <a:rPr lang="en-US" altLang="zh-TW" dirty="0"/>
              <a:t>(app=app, </a:t>
            </a:r>
            <a:r>
              <a:rPr lang="en-US" altLang="zh-TW" dirty="0" err="1"/>
              <a:t>base_url</a:t>
            </a:r>
            <a:r>
              <a:rPr lang="en-US" altLang="zh-TW" dirty="0"/>
              <a:t>="http://localhost:8000") as ac:</a:t>
            </a:r>
          </a:p>
          <a:p>
            <a:pPr marL="0" indent="0">
              <a:buNone/>
            </a:pPr>
            <a:r>
              <a:rPr lang="en-US" altLang="zh-TW" dirty="0"/>
              <a:t>		response = await </a:t>
            </a:r>
            <a:r>
              <a:rPr lang="en-US" altLang="zh-TW" dirty="0" err="1"/>
              <a:t>ac.get</a:t>
            </a:r>
            <a:r>
              <a:rPr lang="en-US" altLang="zh-TW" dirty="0"/>
              <a:t>("/double/5")</a:t>
            </a:r>
          </a:p>
          <a:p>
            <a:pPr marL="0" indent="0">
              <a:buNone/>
            </a:pPr>
            <a:r>
              <a:rPr lang="en-US" altLang="zh-TW" dirty="0"/>
              <a:t>		assert </a:t>
            </a:r>
            <a:r>
              <a:rPr lang="en-US" altLang="zh-TW" dirty="0" err="1"/>
              <a:t>response.status_code</a:t>
            </a:r>
            <a:r>
              <a:rPr lang="en-US" altLang="zh-TW" dirty="0"/>
              <a:t> == 200</a:t>
            </a:r>
          </a:p>
          <a:p>
            <a:pPr marL="0" indent="0">
              <a:buNone/>
            </a:pPr>
            <a:r>
              <a:rPr lang="en-US" altLang="zh-TW" dirty="0"/>
              <a:t>		assert </a:t>
            </a:r>
            <a:r>
              <a:rPr lang="en-US" altLang="zh-TW" dirty="0" err="1"/>
              <a:t>response.json</a:t>
            </a:r>
            <a:r>
              <a:rPr lang="en-US" altLang="zh-TW" dirty="0"/>
              <a:t>() == {"result": 10}</a:t>
            </a: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87925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809</Words>
  <Application>Microsoft Office PowerPoint</Application>
  <PresentationFormat>寬螢幕</PresentationFormat>
  <Paragraphs>100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Roboto Mono</vt:lpstr>
      <vt:lpstr>Arial</vt:lpstr>
      <vt:lpstr>Calibri</vt:lpstr>
      <vt:lpstr>Calibri Light</vt:lpstr>
      <vt:lpstr>Roboto</vt:lpstr>
      <vt:lpstr>Office 佈景主題</vt:lpstr>
      <vt:lpstr>Pytest 自動測試</vt:lpstr>
      <vt:lpstr>自動測試</vt:lpstr>
      <vt:lpstr>基本邏輯</vt:lpstr>
      <vt:lpstr>Python 範例</vt:lpstr>
      <vt:lpstr>使用pytest</vt:lpstr>
      <vt:lpstr>Pytest: 使用參數矩陣(parametrize)</vt:lpstr>
      <vt:lpstr>Pytest:設置測試前的準備步驟(fixture)</vt:lpstr>
      <vt:lpstr>Pytest 測試報告</vt:lpstr>
      <vt:lpstr>使用pytest 測試 fastapi</vt:lpstr>
      <vt:lpstr>使用內建Testclient範例</vt:lpstr>
      <vt:lpstr>使用httpx之AsyncClient範例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自動測試</dc:title>
  <dc:creator>buddhist</dc:creator>
  <cp:lastModifiedBy>buddhist</cp:lastModifiedBy>
  <cp:revision>14</cp:revision>
  <dcterms:created xsi:type="dcterms:W3CDTF">2025-12-01T14:56:30Z</dcterms:created>
  <dcterms:modified xsi:type="dcterms:W3CDTF">2025-12-01T16:12:54Z</dcterms:modified>
</cp:coreProperties>
</file>